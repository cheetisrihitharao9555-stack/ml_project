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d5c718e-2b75-1b96-658b-42e9c4875a64}">
          <p14:sldIdLst>
            <p14:sldId id="256"/>
          </p14:sldIdLst>
        </p14:section>
        <p14:section name="Body" id="{f64c7287-7304-864f-b85f-b543e57d8c5a}">
          <p14:sldIdLst>
            <p14:sldId id="257"/>
            <p14:sldId id="258"/>
            <p14:sldId id="259"/>
            <p14:sldId id="260"/>
          </p14:sldIdLst>
        </p14:section>
        <p14:section name="Close" id="{a4dc9720-52c2-1d2b-81a7-eb1aaf07b23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machine learning study that classifies road segments into risk categories using a Decision Tree and LightGBM, then compares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Accidents depend on traffic, road, weather and past accident patterns. Identifying high-risk segments in advance lets authorities act early. Our objective is to classify segments by risk and pick the better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covers traffic volume, road characteristics, weather and accident information. We handle missing values, encode categorical attributes, scale the required features, and split into training and testing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 is a single rule-based tree. LightGBM is a gradient boosting ensemble of trees. Both are trained and tested on the same split so the comparison is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are evaluated with accuracy, precision, recall and F1-score. Both classify risk well, but LightGBM achieves higher accuracy and better overall performance. Insert your actual metric values here if you want to show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ML can classify road risk; LightGBM wins; this supports proactive planning. Tools: Python, Jupyter/Colab, Pandas, NumPy, Scikit-learn, LightGBM, Matplotlib, Seaborn on Windows. Close with thanks and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2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MACHINE LEARNING  ·  B.TECH CSE  ·  A.Y. 2026-27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Road Segment Risk Classification Using Decision Trees and LightGBM</a:t>
            </a:r>
            <a:endParaRPr lang="en-US" sz="3000" dirty="0"/>
          </a:p>
        </p:txBody>
      </p:sp>
      <p:sp>
        <p:nvSpPr>
          <p:cNvPr id="4" name="Team"/>
          <p:cNvSpPr txBox="1"/>
          <p:nvPr/>
        </p:nvSpPr>
        <p:spPr>
          <a:xfrm>
            <a:off x="54864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Ch. Srihitha  2520030400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A. Venkatesh  2520030404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Sashank  2520030405</a:t>
            </a:r>
            <a:endParaRPr lang="en-US" sz="1400" dirty="0"/>
          </a:p>
        </p:txBody>
      </p:sp>
      <p:sp>
        <p:nvSpPr>
          <p:cNvPr id="5" name="Guides"/>
          <p:cNvSpPr txBox="1"/>
          <p:nvPr/>
        </p:nvSpPr>
        <p:spPr>
          <a:xfrm>
            <a:off x="356616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Guided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G. Ravindra Babu, Assistant Professor, CSE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Dr. Nirmala Jyothi, Associate Professor, CSE</a:t>
            </a:r>
            <a:endParaRPr lang="en-US" sz="1200" dirty="0"/>
          </a:p>
        </p:txBody>
      </p:sp>
      <p:sp>
        <p:nvSpPr>
          <p:cNvPr id="6" name="Risk Low risk"/>
          <p:cNvSpPr/>
          <p:nvPr/>
        </p:nvSpPr>
        <p:spPr>
          <a:xfrm>
            <a:off x="6492240" y="118872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Low risk</a:t>
            </a:r>
            <a:endParaRPr lang="en-US" sz="1600" dirty="0"/>
          </a:p>
        </p:txBody>
      </p:sp>
      <p:sp>
        <p:nvSpPr>
          <p:cNvPr id="7" name="Risk Medium risk"/>
          <p:cNvSpPr/>
          <p:nvPr/>
        </p:nvSpPr>
        <p:spPr>
          <a:xfrm>
            <a:off x="6492240" y="224028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Medium risk</a:t>
            </a:r>
            <a:endParaRPr lang="en-US" sz="1600" dirty="0"/>
          </a:p>
        </p:txBody>
      </p:sp>
      <p:sp>
        <p:nvSpPr>
          <p:cNvPr id="8" name="Risk High risk"/>
          <p:cNvSpPr/>
          <p:nvPr/>
        </p:nvSpPr>
        <p:spPr>
          <a:xfrm>
            <a:off x="6492240" y="329184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High risk</a:t>
            </a:r>
            <a:endParaRPr lang="en-US" sz="1600" dirty="0"/>
          </a:p>
        </p:txBody>
      </p:sp>
      <p:sp>
        <p:nvSpPr>
          <p:cNvPr id="9" name="Caption"/>
          <p:cNvSpPr txBox="1"/>
          <p:nvPr/>
        </p:nvSpPr>
        <p:spPr>
          <a:xfrm>
            <a:off x="649224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Classifying road segments into risk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road risk needs prediction</a:t>
            </a:r>
            <a:endParaRPr lang="en-US" sz="3000" dirty="0"/>
          </a:p>
        </p:txBody>
      </p:sp>
      <p:sp>
        <p:nvSpPr>
          <p:cNvPr id="3" name="Tile Traffic volume"/>
          <p:cNvSpPr/>
          <p:nvPr/>
        </p:nvSpPr>
        <p:spPr>
          <a:xfrm>
            <a:off x="457200" y="1280160"/>
            <a:ext cx="22402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Dot 1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 1"/>
          <p:cNvSpPr txBox="1"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Label 1"/>
          <p:cNvSpPr txBox="1"/>
          <p:nvPr/>
        </p:nvSpPr>
        <p:spPr>
          <a:xfrm>
            <a:off x="6400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Traffic volume</a:t>
            </a:r>
            <a:endParaRPr lang="en-US" sz="1500" dirty="0"/>
          </a:p>
        </p:txBody>
      </p:sp>
      <p:sp>
        <p:nvSpPr>
          <p:cNvPr id="7" name="Desc 1"/>
          <p:cNvSpPr txBox="1"/>
          <p:nvPr/>
        </p:nvSpPr>
        <p:spPr>
          <a:xfrm>
            <a:off x="640080" y="22677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How heavily a segment is used</a:t>
            </a:r>
            <a:endParaRPr lang="en-US" sz="1200" dirty="0"/>
          </a:p>
        </p:txBody>
      </p:sp>
      <p:sp>
        <p:nvSpPr>
          <p:cNvPr id="8" name="Tile Road characteristics"/>
          <p:cNvSpPr/>
          <p:nvPr/>
        </p:nvSpPr>
        <p:spPr>
          <a:xfrm>
            <a:off x="2880360" y="1280160"/>
            <a:ext cx="22402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9" name="Dot 2"/>
          <p:cNvSpPr/>
          <p:nvPr/>
        </p:nvSpPr>
        <p:spPr>
          <a:xfrm>
            <a:off x="30632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 2"/>
          <p:cNvSpPr txBox="1"/>
          <p:nvPr/>
        </p:nvSpPr>
        <p:spPr>
          <a:xfrm>
            <a:off x="3063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Label 2"/>
          <p:cNvSpPr txBox="1"/>
          <p:nvPr/>
        </p:nvSpPr>
        <p:spPr>
          <a:xfrm>
            <a:off x="30632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Road characteristics</a:t>
            </a:r>
            <a:endParaRPr lang="en-US" sz="1500" dirty="0"/>
          </a:p>
        </p:txBody>
      </p:sp>
      <p:sp>
        <p:nvSpPr>
          <p:cNvPr id="12" name="Desc 2"/>
          <p:cNvSpPr txBox="1"/>
          <p:nvPr/>
        </p:nvSpPr>
        <p:spPr>
          <a:xfrm>
            <a:off x="3063240" y="22677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Layout and physical condition</a:t>
            </a:r>
            <a:endParaRPr lang="en-US" sz="1200" dirty="0"/>
          </a:p>
        </p:txBody>
      </p:sp>
      <p:sp>
        <p:nvSpPr>
          <p:cNvPr id="13" name="Tile Weather conditions"/>
          <p:cNvSpPr/>
          <p:nvPr/>
        </p:nvSpPr>
        <p:spPr>
          <a:xfrm>
            <a:off x="457200" y="2926080"/>
            <a:ext cx="22402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4" name="Dot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 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Label 3"/>
          <p:cNvSpPr txBox="1"/>
          <p:nvPr/>
        </p:nvSpPr>
        <p:spPr>
          <a:xfrm>
            <a:off x="64008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Weather conditions</a:t>
            </a:r>
            <a:endParaRPr lang="en-US" sz="1500" dirty="0"/>
          </a:p>
        </p:txBody>
      </p:sp>
      <p:sp>
        <p:nvSpPr>
          <p:cNvPr id="17" name="Desc 3"/>
          <p:cNvSpPr txBox="1"/>
          <p:nvPr/>
        </p:nvSpPr>
        <p:spPr>
          <a:xfrm>
            <a:off x="640080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Environmental factors on the road</a:t>
            </a:r>
            <a:endParaRPr lang="en-US" sz="1200" dirty="0"/>
          </a:p>
        </p:txBody>
      </p:sp>
      <p:sp>
        <p:nvSpPr>
          <p:cNvPr id="18" name="Tile Accident history"/>
          <p:cNvSpPr/>
          <p:nvPr/>
        </p:nvSpPr>
        <p:spPr>
          <a:xfrm>
            <a:off x="2880360" y="2926080"/>
            <a:ext cx="22402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9" name="Dot 4"/>
          <p:cNvSpPr/>
          <p:nvPr/>
        </p:nvSpPr>
        <p:spPr>
          <a:xfrm>
            <a:off x="306324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um 4"/>
          <p:cNvSpPr txBox="1"/>
          <p:nvPr/>
        </p:nvSpPr>
        <p:spPr>
          <a:xfrm>
            <a:off x="30632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Label 4"/>
          <p:cNvSpPr txBox="1"/>
          <p:nvPr/>
        </p:nvSpPr>
        <p:spPr>
          <a:xfrm>
            <a:off x="30632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Accident history</a:t>
            </a:r>
            <a:endParaRPr lang="en-US" sz="1500" dirty="0"/>
          </a:p>
        </p:txBody>
      </p:sp>
      <p:sp>
        <p:nvSpPr>
          <p:cNvPr id="22" name="Desc 4"/>
          <p:cNvSpPr txBox="1"/>
          <p:nvPr/>
        </p:nvSpPr>
        <p:spPr>
          <a:xfrm>
            <a:off x="3063240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Past accident-related information</a:t>
            </a:r>
            <a:endParaRPr lang="en-US" sz="1200" dirty="0"/>
          </a:p>
        </p:txBody>
      </p:sp>
      <p:sp>
        <p:nvSpPr>
          <p:cNvPr id="23" name="Objective card"/>
          <p:cNvSpPr/>
          <p:nvPr/>
        </p:nvSpPr>
        <p:spPr>
          <a:xfrm>
            <a:off x="5440680" y="1280160"/>
            <a:ext cx="3246120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Objective label"/>
          <p:cNvSpPr txBox="1"/>
          <p:nvPr/>
        </p:nvSpPr>
        <p:spPr>
          <a:xfrm>
            <a:off x="57150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OBJECTIVE</a:t>
            </a:r>
            <a:endParaRPr lang="en-US" sz="1200" dirty="0"/>
          </a:p>
        </p:txBody>
      </p:sp>
      <p:sp>
        <p:nvSpPr>
          <p:cNvPr id="25" name="Objective text"/>
          <p:cNvSpPr txBox="1"/>
          <p:nvPr/>
        </p:nvSpPr>
        <p:spPr>
          <a:xfrm>
            <a:off x="5715000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Classify road segments into risk categories and find the most effective model for accurate risk prediction.</a:t>
            </a:r>
            <a:endParaRPr lang="en-US" sz="1700" dirty="0"/>
          </a:p>
        </p:txBody>
      </p:sp>
      <p:sp>
        <p:nvSpPr>
          <p:cNvPr id="26" name="Objective note"/>
          <p:cNvSpPr txBox="1"/>
          <p:nvPr/>
        </p:nvSpPr>
        <p:spPr>
          <a:xfrm>
            <a:off x="571500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Helps authorities improve road safety and reduce accidents.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and preprocessing</a:t>
            </a:r>
            <a:endParaRPr lang="en-US" sz="3000" dirty="0"/>
          </a:p>
        </p:txBody>
      </p:sp>
      <p:sp>
        <p:nvSpPr>
          <p:cNvPr id="3" name="Dataset card"/>
          <p:cNvSpPr/>
          <p:nvPr/>
        </p:nvSpPr>
        <p:spPr>
          <a:xfrm>
            <a:off x="457200" y="128016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Dataset title"/>
          <p:cNvSpPr txBox="1"/>
          <p:nvPr/>
        </p:nvSpPr>
        <p:spPr>
          <a:xfrm>
            <a:off x="6858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Road segment dataset</a:t>
            </a:r>
            <a:endParaRPr lang="en-US" sz="1800" dirty="0"/>
          </a:p>
        </p:txBody>
      </p:sp>
      <p:sp>
        <p:nvSpPr>
          <p:cNvPr id="5" name="Dataset features"/>
          <p:cNvSpPr txBox="1"/>
          <p:nvPr/>
        </p:nvSpPr>
        <p:spPr>
          <a:xfrm>
            <a:off x="685800" y="19659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Traffic volume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Road characteristics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Weather conditions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Accident-related information</a:t>
            </a:r>
            <a:endParaRPr lang="en-US" sz="1500" dirty="0"/>
          </a:p>
        </p:txBody>
      </p:sp>
      <p:sp>
        <p:nvSpPr>
          <p:cNvPr id="6" name="Step card 1"/>
          <p:cNvSpPr/>
          <p:nvPr/>
        </p:nvSpPr>
        <p:spPr>
          <a:xfrm>
            <a:off x="4023360" y="1280160"/>
            <a:ext cx="46634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Step dot 1"/>
          <p:cNvSpPr/>
          <p:nvPr/>
        </p:nvSpPr>
        <p:spPr>
          <a:xfrm>
            <a:off x="420624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num 1"/>
          <p:cNvSpPr txBox="1"/>
          <p:nvPr/>
        </p:nvSpPr>
        <p:spPr>
          <a:xfrm>
            <a:off x="42062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ep text 1"/>
          <p:cNvSpPr txBox="1"/>
          <p:nvPr/>
        </p:nvSpPr>
        <p:spPr>
          <a:xfrm>
            <a:off x="4800600" y="1280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Handle missing values</a:t>
            </a:r>
            <a:endParaRPr lang="en-US" sz="1600" dirty="0"/>
          </a:p>
        </p:txBody>
      </p:sp>
      <p:sp>
        <p:nvSpPr>
          <p:cNvPr id="10" name="Step card 2"/>
          <p:cNvSpPr/>
          <p:nvPr/>
        </p:nvSpPr>
        <p:spPr>
          <a:xfrm>
            <a:off x="4023360" y="2103120"/>
            <a:ext cx="46634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ep dot 2"/>
          <p:cNvSpPr/>
          <p:nvPr/>
        </p:nvSpPr>
        <p:spPr>
          <a:xfrm>
            <a:off x="4206240" y="22585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 num 2"/>
          <p:cNvSpPr txBox="1"/>
          <p:nvPr/>
        </p:nvSpPr>
        <p:spPr>
          <a:xfrm>
            <a:off x="42062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 text 2"/>
          <p:cNvSpPr txBox="1"/>
          <p:nvPr/>
        </p:nvSpPr>
        <p:spPr>
          <a:xfrm>
            <a:off x="4800600" y="2103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Encode categorical attributes</a:t>
            </a:r>
            <a:endParaRPr lang="en-US" sz="1600" dirty="0"/>
          </a:p>
        </p:txBody>
      </p:sp>
      <p:sp>
        <p:nvSpPr>
          <p:cNvPr id="14" name="Step card 3"/>
          <p:cNvSpPr/>
          <p:nvPr/>
        </p:nvSpPr>
        <p:spPr>
          <a:xfrm>
            <a:off x="4023360" y="2926080"/>
            <a:ext cx="46634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Step dot 3"/>
          <p:cNvSpPr/>
          <p:nvPr/>
        </p:nvSpPr>
        <p:spPr>
          <a:xfrm>
            <a:off x="4206240" y="3081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 3"/>
          <p:cNvSpPr txBox="1"/>
          <p:nvPr/>
        </p:nvSpPr>
        <p:spPr>
          <a:xfrm>
            <a:off x="42062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tep text 3"/>
          <p:cNvSpPr txBox="1"/>
          <p:nvPr/>
        </p:nvSpPr>
        <p:spPr>
          <a:xfrm>
            <a:off x="4800600" y="2926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Scale the required features</a:t>
            </a:r>
            <a:endParaRPr lang="en-US" sz="1600" dirty="0"/>
          </a:p>
        </p:txBody>
      </p:sp>
      <p:sp>
        <p:nvSpPr>
          <p:cNvPr id="18" name="Step card 4"/>
          <p:cNvSpPr/>
          <p:nvPr/>
        </p:nvSpPr>
        <p:spPr>
          <a:xfrm>
            <a:off x="4023360" y="3749040"/>
            <a:ext cx="46634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Step dot 4"/>
          <p:cNvSpPr/>
          <p:nvPr/>
        </p:nvSpPr>
        <p:spPr>
          <a:xfrm>
            <a:off x="4206240" y="39044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num 4"/>
          <p:cNvSpPr txBox="1"/>
          <p:nvPr/>
        </p:nvSpPr>
        <p:spPr>
          <a:xfrm>
            <a:off x="42062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tep text 4"/>
          <p:cNvSpPr txBox="1"/>
          <p:nvPr/>
        </p:nvSpPr>
        <p:spPr>
          <a:xfrm>
            <a:off x="4800600" y="3749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 into training and testing sets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models, one comparison</a:t>
            </a:r>
            <a:endParaRPr lang="en-US" sz="3000" dirty="0"/>
          </a:p>
        </p:txBody>
      </p:sp>
      <p:sp>
        <p:nvSpPr>
          <p:cNvPr id="3" name="Model card Decision Tree"/>
          <p:cNvSpPr/>
          <p:nvPr/>
        </p:nvSpPr>
        <p:spPr>
          <a:xfrm>
            <a:off x="457200" y="1280160"/>
            <a:ext cx="393192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4" name="Model name Decision Tree"/>
          <p:cNvSpPr txBox="1"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5" name="Model sub Decision Tree"/>
          <p:cNvSpPr txBox="1"/>
          <p:nvPr/>
        </p:nvSpPr>
        <p:spPr>
          <a:xfrm>
            <a:off x="73152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Single-tree classifier</a:t>
            </a:r>
            <a:endParaRPr lang="en-US" sz="1300" dirty="0"/>
          </a:p>
        </p:txBody>
      </p:sp>
      <p:sp>
        <p:nvSpPr>
          <p:cNvPr id="6" name="Model points Decision Tree"/>
          <p:cNvSpPr txBox="1"/>
          <p:nvPr/>
        </p:nvSpPr>
        <p:spPr>
          <a:xfrm>
            <a:off x="731520" y="23317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Splits data with if-then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Easy to read and interpret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Learns one tree from the training data</a:t>
            </a:r>
            <a:endParaRPr lang="en-US" sz="1400" dirty="0"/>
          </a:p>
        </p:txBody>
      </p:sp>
      <p:sp>
        <p:nvSpPr>
          <p:cNvPr id="7" name="Model card LightGBM"/>
          <p:cNvSpPr/>
          <p:nvPr/>
        </p:nvSpPr>
        <p:spPr>
          <a:xfrm>
            <a:off x="4754880" y="1280160"/>
            <a:ext cx="3931920" cy="2697480"/>
          </a:xfrm>
          <a:prstGeom prst="roundRect">
            <a:avLst>
              <a:gd name="adj" fmla="val 3390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Model name LightGBM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2200" dirty="0"/>
          </a:p>
        </p:txBody>
      </p:sp>
      <p:sp>
        <p:nvSpPr>
          <p:cNvPr id="9" name="Model sub LightGBM"/>
          <p:cNvSpPr txBox="1"/>
          <p:nvPr/>
        </p:nvSpPr>
        <p:spPr>
          <a:xfrm>
            <a:off x="50292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Light Gradient Boosting Machine</a:t>
            </a:r>
            <a:endParaRPr lang="en-US" sz="1300" dirty="0"/>
          </a:p>
        </p:txBody>
      </p:sp>
      <p:sp>
        <p:nvSpPr>
          <p:cNvPr id="10" name="Model points LightGBM"/>
          <p:cNvSpPr txBox="1"/>
          <p:nvPr/>
        </p:nvSpPr>
        <p:spPr>
          <a:xfrm>
            <a:off x="5029200" y="23317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Ensemble of boosted decision trees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Combines many learners for stronger predictions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Handles complex feature interactions</a:t>
            </a:r>
            <a:endParaRPr lang="en-US" sz="1400" dirty="0"/>
          </a:p>
        </p:txBody>
      </p:sp>
      <p:sp>
        <p:nvSpPr>
          <p:cNvPr id="11" name="Footer strip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2" name="Footer text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models are trained on the same training set and tested on the same testing set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Evaluation and results</a:t>
            </a:r>
            <a:endParaRPr lang="en-US" sz="3000" dirty="0"/>
          </a:p>
        </p:txBody>
      </p:sp>
      <p:sp>
        <p:nvSpPr>
          <p:cNvPr id="3" name="Metric card Accuracy"/>
          <p:cNvSpPr/>
          <p:nvPr/>
        </p:nvSpPr>
        <p:spPr>
          <a:xfrm>
            <a:off x="457200" y="1280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" name="Metric name Accuracy"/>
          <p:cNvSpPr txBox="1"/>
          <p:nvPr/>
        </p:nvSpPr>
        <p:spPr>
          <a:xfrm>
            <a:off x="59436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Accuracy</a:t>
            </a:r>
            <a:endParaRPr lang="en-US" sz="1800" dirty="0"/>
          </a:p>
        </p:txBody>
      </p:sp>
      <p:sp>
        <p:nvSpPr>
          <p:cNvPr id="5" name="Metric desc Accuracy"/>
          <p:cNvSpPr txBox="1"/>
          <p:nvPr/>
        </p:nvSpPr>
        <p:spPr>
          <a:xfrm>
            <a:off x="5943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Correct predictions overall</a:t>
            </a:r>
            <a:endParaRPr lang="en-US" sz="1200" dirty="0"/>
          </a:p>
        </p:txBody>
      </p:sp>
      <p:sp>
        <p:nvSpPr>
          <p:cNvPr id="6" name="Metric card Precision"/>
          <p:cNvSpPr/>
          <p:nvPr/>
        </p:nvSpPr>
        <p:spPr>
          <a:xfrm>
            <a:off x="2560320" y="1280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7" name="Metric name Precision"/>
          <p:cNvSpPr txBox="1"/>
          <p:nvPr/>
        </p:nvSpPr>
        <p:spPr>
          <a:xfrm>
            <a:off x="269748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Precision</a:t>
            </a:r>
            <a:endParaRPr lang="en-US" sz="1800" dirty="0"/>
          </a:p>
        </p:txBody>
      </p:sp>
      <p:sp>
        <p:nvSpPr>
          <p:cNvPr id="8" name="Metric desc Precision"/>
          <p:cNvSpPr txBox="1"/>
          <p:nvPr/>
        </p:nvSpPr>
        <p:spPr>
          <a:xfrm>
            <a:off x="269748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Correctness of predicted risks</a:t>
            </a:r>
            <a:endParaRPr lang="en-US" sz="1200" dirty="0"/>
          </a:p>
        </p:txBody>
      </p:sp>
      <p:sp>
        <p:nvSpPr>
          <p:cNvPr id="9" name="Metric card Recall"/>
          <p:cNvSpPr/>
          <p:nvPr/>
        </p:nvSpPr>
        <p:spPr>
          <a:xfrm>
            <a:off x="4663440" y="1280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0" name="Metric name Recall"/>
          <p:cNvSpPr txBox="1"/>
          <p:nvPr/>
        </p:nvSpPr>
        <p:spPr>
          <a:xfrm>
            <a:off x="480060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Recall</a:t>
            </a:r>
            <a:endParaRPr lang="en-US" sz="1800" dirty="0"/>
          </a:p>
        </p:txBody>
      </p:sp>
      <p:sp>
        <p:nvSpPr>
          <p:cNvPr id="11" name="Metric desc Recall"/>
          <p:cNvSpPr txBox="1"/>
          <p:nvPr/>
        </p:nvSpPr>
        <p:spPr>
          <a:xfrm>
            <a:off x="48006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Share of true risks found</a:t>
            </a:r>
            <a:endParaRPr lang="en-US" sz="1200" dirty="0"/>
          </a:p>
        </p:txBody>
      </p:sp>
      <p:sp>
        <p:nvSpPr>
          <p:cNvPr id="12" name="Metric card F1-score"/>
          <p:cNvSpPr/>
          <p:nvPr/>
        </p:nvSpPr>
        <p:spPr>
          <a:xfrm>
            <a:off x="6766560" y="128016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3" name="Metric name F1-score"/>
          <p:cNvSpPr txBox="1"/>
          <p:nvPr/>
        </p:nvSpPr>
        <p:spPr>
          <a:xfrm>
            <a:off x="690372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F1-score</a:t>
            </a:r>
            <a:endParaRPr lang="en-US" sz="1800" dirty="0"/>
          </a:p>
        </p:txBody>
      </p:sp>
      <p:sp>
        <p:nvSpPr>
          <p:cNvPr id="14" name="Metric desc F1-score"/>
          <p:cNvSpPr txBox="1"/>
          <p:nvPr/>
        </p:nvSpPr>
        <p:spPr>
          <a:xfrm>
            <a:off x="690372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Balance of precision and recall</a:t>
            </a:r>
            <a:endParaRPr lang="en-US" sz="1200" dirty="0"/>
          </a:p>
        </p:txBody>
      </p:sp>
      <p:sp>
        <p:nvSpPr>
          <p:cNvPr id="15" name="Finding card 1"/>
          <p:cNvSpPr/>
          <p:nvPr/>
        </p:nvSpPr>
        <p:spPr>
          <a:xfrm>
            <a:off x="457200" y="2651760"/>
            <a:ext cx="39319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Finding 1 title"/>
          <p:cNvSpPr txBox="1"/>
          <p:nvPr/>
        </p:nvSpPr>
        <p:spPr>
          <a:xfrm>
            <a:off x="68580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work</a:t>
            </a:r>
            <a:endParaRPr lang="en-US" sz="2000" dirty="0"/>
          </a:p>
        </p:txBody>
      </p:sp>
      <p:sp>
        <p:nvSpPr>
          <p:cNvPr id="17" name="Finding 1 text"/>
          <p:cNvSpPr txBox="1"/>
          <p:nvPr/>
        </p:nvSpPr>
        <p:spPr>
          <a:xfrm>
            <a:off x="685800" y="3337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Decision Tree and LightGBM both classify road segment risk effectively.</a:t>
            </a:r>
            <a:endParaRPr lang="en-US" sz="1500" dirty="0"/>
          </a:p>
        </p:txBody>
      </p:sp>
      <p:sp>
        <p:nvSpPr>
          <p:cNvPr id="18" name="Finding card 2"/>
          <p:cNvSpPr/>
          <p:nvPr/>
        </p:nvSpPr>
        <p:spPr>
          <a:xfrm>
            <a:off x="4754880" y="2651760"/>
            <a:ext cx="393192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Finding 2 title"/>
          <p:cNvSpPr txBox="1"/>
          <p:nvPr/>
        </p:nvSpPr>
        <p:spPr>
          <a:xfrm>
            <a:off x="49834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performs better</a:t>
            </a:r>
            <a:endParaRPr lang="en-US" sz="2000" dirty="0"/>
          </a:p>
        </p:txBody>
      </p:sp>
      <p:sp>
        <p:nvSpPr>
          <p:cNvPr id="20" name="Finding 2 text"/>
          <p:cNvSpPr txBox="1"/>
          <p:nvPr/>
        </p:nvSpPr>
        <p:spPr>
          <a:xfrm>
            <a:off x="4983480" y="3337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Higher accuracy and better overall performance, thanks to its ensemble learning capability.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Conclusions"/>
          <p:cNvSpPr txBox="1"/>
          <p:nvPr/>
        </p:nvSpPr>
        <p:spPr>
          <a:xfrm>
            <a:off x="457200" y="128016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Machine learning can classify road segment risk effectively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LightGBM outperforms the Decision Tree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Supports proactive road safety planning and preventive measures by transport authorities</a:t>
            </a:r>
            <a:endParaRPr lang="en-US" sz="1800" dirty="0"/>
          </a:p>
        </p:txBody>
      </p:sp>
      <p:sp>
        <p:nvSpPr>
          <p:cNvPr id="4" name="Stack label"/>
          <p:cNvSpPr txBox="1"/>
          <p:nvPr/>
        </p:nvSpPr>
        <p:spPr>
          <a:xfrm>
            <a:off x="52120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SOFTWARE STACK</a:t>
            </a:r>
            <a:endParaRPr lang="en-US" sz="1200" dirty="0"/>
          </a:p>
        </p:txBody>
      </p:sp>
      <p:sp>
        <p:nvSpPr>
          <p:cNvPr id="5" name="Chip Python 3.x"/>
          <p:cNvSpPr/>
          <p:nvPr/>
        </p:nvSpPr>
        <p:spPr>
          <a:xfrm>
            <a:off x="5212080" y="1691640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Python 3.x</a:t>
            </a:r>
            <a:endParaRPr lang="en-US" sz="1300" dirty="0"/>
          </a:p>
        </p:txBody>
      </p:sp>
      <p:sp>
        <p:nvSpPr>
          <p:cNvPr id="6" name="Chip Jupyter / Colab"/>
          <p:cNvSpPr/>
          <p:nvPr/>
        </p:nvSpPr>
        <p:spPr>
          <a:xfrm>
            <a:off x="6995160" y="1691640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Jupyter / Colab</a:t>
            </a:r>
            <a:endParaRPr lang="en-US" sz="1300" dirty="0"/>
          </a:p>
        </p:txBody>
      </p:sp>
      <p:sp>
        <p:nvSpPr>
          <p:cNvPr id="7" name="Chip Pandas"/>
          <p:cNvSpPr/>
          <p:nvPr/>
        </p:nvSpPr>
        <p:spPr>
          <a:xfrm>
            <a:off x="5212080" y="2258568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Pandas</a:t>
            </a:r>
            <a:endParaRPr lang="en-US" sz="1300" dirty="0"/>
          </a:p>
        </p:txBody>
      </p:sp>
      <p:sp>
        <p:nvSpPr>
          <p:cNvPr id="8" name="Chip NumPy"/>
          <p:cNvSpPr/>
          <p:nvPr/>
        </p:nvSpPr>
        <p:spPr>
          <a:xfrm>
            <a:off x="6995160" y="2258568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NumPy</a:t>
            </a:r>
            <a:endParaRPr lang="en-US" sz="1300" dirty="0"/>
          </a:p>
        </p:txBody>
      </p:sp>
      <p:sp>
        <p:nvSpPr>
          <p:cNvPr id="9" name="Chip Scikit-learn"/>
          <p:cNvSpPr/>
          <p:nvPr/>
        </p:nvSpPr>
        <p:spPr>
          <a:xfrm>
            <a:off x="5212080" y="2825496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10" name="Chip LightGBM"/>
          <p:cNvSpPr/>
          <p:nvPr/>
        </p:nvSpPr>
        <p:spPr>
          <a:xfrm>
            <a:off x="6995160" y="2825496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LightGBM</a:t>
            </a:r>
            <a:endParaRPr lang="en-US" sz="1300" dirty="0"/>
          </a:p>
        </p:txBody>
      </p:sp>
      <p:sp>
        <p:nvSpPr>
          <p:cNvPr id="11" name="Chip Matplotlib"/>
          <p:cNvSpPr/>
          <p:nvPr/>
        </p:nvSpPr>
        <p:spPr>
          <a:xfrm>
            <a:off x="5212080" y="3392424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12" name="Chip Seaborn"/>
          <p:cNvSpPr/>
          <p:nvPr/>
        </p:nvSpPr>
        <p:spPr>
          <a:xfrm>
            <a:off x="6995160" y="3392424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Seaborn</a:t>
            </a:r>
            <a:endParaRPr lang="en-US" sz="1300" dirty="0"/>
          </a:p>
        </p:txBody>
      </p:sp>
      <p:sp>
        <p:nvSpPr>
          <p:cNvPr id="13" name="Chip Windows"/>
          <p:cNvSpPr/>
          <p:nvPr/>
        </p:nvSpPr>
        <p:spPr>
          <a:xfrm>
            <a:off x="5212080" y="3959352"/>
            <a:ext cx="1691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Windows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2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 Risk">
  <a:themeElements>
    <a:clrScheme name="Road Risk">
      <a:dk1>
        <a:srgbClr val="1F2933"/>
      </a:dk1>
      <a:lt1>
        <a:srgbClr val="FFFFFF"/>
      </a:lt1>
      <a:dk2>
        <a:srgbClr val="323F4B"/>
      </a:dk2>
      <a:lt2>
        <a:srgbClr val="F1F3F5"/>
      </a:lt2>
      <a:accent1>
        <a:srgbClr val="F5B700"/>
      </a:accent1>
      <a:accent2>
        <a:srgbClr val="C0392B"/>
      </a:accent2>
      <a:accent3>
        <a:srgbClr val="2E9E6B"/>
      </a:accent3>
      <a:accent4>
        <a:srgbClr val="3D7EA6"/>
      </a:accent4>
      <a:accent5>
        <a:srgbClr val="7B8794"/>
      </a:accent5>
      <a:accent6>
        <a:srgbClr val="CBD2D9"/>
      </a:accent6>
      <a:hlink>
        <a:srgbClr val="3D7EA6"/>
      </a:hlink>
      <a:folHlink>
        <a:srgbClr val="7B8794"/>
      </a:folHlink>
    </a:clrScheme>
    <a:fontScheme name="Road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Segment Risk Classification Using Decision Trees and LightGBM</dc:title>
  <dc:subject>PptxGenJS Presentation</dc:subject>
  <dc:creator>Ch. Srihitha, A. Venkatesh, Sashank</dc:creator>
  <cp:lastModifiedBy>Ch. Srihitha, A. Venkatesh, Sashank</cp:lastModifiedBy>
  <cp:revision>1</cp:revision>
  <dcterms:created xsi:type="dcterms:W3CDTF">2026-10-12T06:35:22Z</dcterms:created>
  <dcterms:modified xsi:type="dcterms:W3CDTF">2026-10-12T06:35:22Z</dcterms:modified>
</cp:coreProperties>
</file>